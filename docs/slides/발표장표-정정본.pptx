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image" Target="../media/image-3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2560" y="219456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 Architect 팀과제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224028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On-device Agentic Platform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971800"/>
            <a:ext cx="10725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454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타인과의 협상을 대신하는 온디바이스 자율 에이전트 시스템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4160520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10팀   ·   남선우  ·  염희정  ·  윤창배  ·  이종인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4526280"/>
            <a:ext cx="10725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2026. 8. 26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2560" y="219456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 Architect 팀과제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02336"/>
            <a:ext cx="11185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Contents</a:t>
            </a:r>
            <a:pPr indent="0" marL="0">
              <a:buNone/>
            </a:pPr>
            <a:r>
              <a:rPr lang="en-US" sz="2300" dirty="0">
                <a:solidFill>
                  <a:srgbClr val="A9B2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pPr indent="0" marL="0">
              <a:buNone/>
            </a:pPr>
            <a:r>
              <a:rPr lang="en-US" sz="2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 순서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1430000" y="642823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682496"/>
            <a:ext cx="5852160" cy="603504"/>
          </a:xfrm>
          <a:prstGeom prst="rect">
            <a:avLst/>
          </a:prstGeom>
          <a:solidFill>
            <a:srgbClr val="F4F6F9"/>
          </a:solidFill>
          <a:ln w="6350">
            <a:solidFill>
              <a:srgbClr val="E4E8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737360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371600" y="173736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소개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46320" y="1737360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구간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95528" y="2523744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7C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371600" y="252374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 분석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95528" y="3310128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7C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371600" y="331012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5528" y="4096512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7C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371600" y="409651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및 검증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95528" y="4882896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7C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371600" y="488289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2560" y="219456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 Architect 팀과제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02336"/>
            <a:ext cx="11185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 소개</a:t>
            </a:r>
            <a:pPr indent="0" marL="0">
              <a:buNone/>
            </a:pPr>
            <a:r>
              <a:rPr lang="en-US" sz="2300" dirty="0">
                <a:solidFill>
                  <a:srgbClr val="A9B2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pPr indent="0" marL="0">
              <a:buNone/>
            </a:pPr>
            <a:r>
              <a:rPr lang="en-US" sz="2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10팀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1430000" y="642823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8128" y="1691640"/>
            <a:ext cx="1828800" cy="24140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03808" y="42153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남선우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03808" y="44897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MDE Lab (SR)</a:t>
            </a:r>
            <a:endParaRPr lang="en-US" sz="10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008" y="1691640"/>
            <a:ext cx="1828800" cy="241401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72688" y="42153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염희정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3672688" y="44897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Health Solution Lab (SR)</a:t>
            </a:r>
            <a:endParaRPr lang="en-US" sz="10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5888" y="1691640"/>
            <a:ext cx="1828800" cy="241401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41568" y="42153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윤창배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6141568" y="44897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Core Team (SR)</a:t>
            </a:r>
            <a:endParaRPr lang="en-US" sz="10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4768" y="1691640"/>
            <a:ext cx="1828800" cy="241401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610448" y="42153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이종인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8610448" y="44897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Service S/W Lab (VD)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2560" y="219456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 Architect 팀과제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02336"/>
            <a:ext cx="11185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배경</a:t>
            </a:r>
            <a:pPr indent="0" marL="0">
              <a:buNone/>
            </a:pPr>
            <a:r>
              <a:rPr lang="en-US" sz="2300" dirty="0">
                <a:solidFill>
                  <a:srgbClr val="A9B2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pPr indent="0" marL="0">
              <a:buNone/>
            </a:pPr>
            <a:r>
              <a:rPr lang="en-US" sz="2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해결되지 않은 문제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6428232"/>
            <a:ext cx="10728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1) Calendly, “How to find a meeting time that works for everyone”  https://calendly.com/blog/find-a-meeting-time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430000" y="642823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391656" y="1225296"/>
            <a:ext cx="7315" cy="4114800"/>
          </a:xfrm>
          <a:prstGeom prst="rect">
            <a:avLst/>
          </a:prstGeom>
          <a:solidFill>
            <a:srgbClr val="D9DDE3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070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454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일상의 미세 의사결정 — 여전히 사람이 직접 처리하는 현실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28232" y="12070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454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AI 비서의 한계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673352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타인과의 일상적 조율의 높은 비용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1947672"/>
            <a:ext cx="5349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 수 건씩 발생하는 일정 조율·장소 선택·조건 협의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2인 조율 기준 평균 7.3회 메시지 왕복 소요 1)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참여자 증가에 따른 비선형 급증: N(N−1)/2 쌍 — 2인=1쌍, 3인=3쌍, 5인=10쌍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누적 결정 피로 → 질 낮은 선택 반복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127248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부담이 심화되는 두 가지 상황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3401568"/>
            <a:ext cx="5349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민감 정보 포함 시 : 조율하려면 내 후보·우선순위를 상대에게 제시해야 하고, 제안·수락 패턴만으로 말하지 않은 선호까지 역추론됨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다수 의견 조율 시 : 참여자 증가에 따른 시간 교집합 감소·왕복 비용 급증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4434840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합의의 질과 후보 조합 문제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4709160"/>
            <a:ext cx="5349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합의는 되지만, 그게 최선인지 확인할 방법이 없음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이슈가 하나 늘 때마다 후보 조합은 값 개수만큼 배로 증가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28232" y="1728216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“단일 사용자 + 명령 대기” 구조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28232" y="2002536"/>
            <a:ext cx="5349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직접 지시 시에만 동작하는 Reactive 모델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상대방 Agent와의 자율 협상·합의 기능 부재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단일 사용자 컨텍스트 내 동작 — 타인 조율 불가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28232" y="2971800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민감 협상에 부적합한 클라우드 처리 방식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28232" y="3246120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협상을 위한 개인 데이터(일정·대화·선호)의 클라우드 전송 필수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민감 정보 포함 사안일수록 사용자 위임 의지 저하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온디바이스 처리 + 참여자 간 최소 정보 공개 구조 필요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28232" y="4416552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해결을 위한 필수 요소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28232" y="4690872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MAF : 상대방 Agent와의 자율 협상 수행 — 제안·역제안·합의로 결과 도출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5440680"/>
            <a:ext cx="11185855" cy="658368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440680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i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“필요한 것은 내가 직접 협상하는 것도, 데이터를 클라우드에 맡기는 것도 아니다.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i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기기 안의 Agent가 상대방 Agent와 자율적으로 합의하여, 결과만 가져다 주는 것이다.”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2560" y="219456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 Architect 팀과제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02336"/>
            <a:ext cx="11185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배경</a:t>
            </a:r>
            <a:pPr indent="0" marL="0">
              <a:buNone/>
            </a:pPr>
            <a:r>
              <a:rPr lang="en-US" sz="2300" dirty="0">
                <a:solidFill>
                  <a:srgbClr val="A9B2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pPr indent="0" marL="0">
              <a:buNone/>
            </a:pPr>
            <a:r>
              <a:rPr lang="en-US" sz="2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환경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6428232"/>
            <a:ext cx="10728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2) Gartner Press Release, 2025.8   3) Samsung Global Newsroom, 2026.3.1 / 2026.3.9   4) PR Newswire, 2026   5) a2cn.io   6) arXiv:2503.06416 (출처 표기 확인 필요)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430000" y="642823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391656" y="1225296"/>
            <a:ext cx="7315" cy="4114800"/>
          </a:xfrm>
          <a:prstGeom prst="rect">
            <a:avLst/>
          </a:prstGeom>
          <a:solidFill>
            <a:srgbClr val="D9DDE3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070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454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Agentic AI와 온디바이스 LLM의 성숙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28232" y="12070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454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 간 협상 — 기업 간은 이제 막 시작, 개인 간은 부재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728216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Agentic AI의 시장 주류 진입 (2026)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2002536"/>
            <a:ext cx="5349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AI의 ‘답변’에서 ‘자율 행동’으로의 전환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말 엔터프라이즈 앱 40% AI Agent 탑재 전망 2)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Google(Android·Gemini)·Apple(iOS·Siri) — Agent 기반 전환 중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Samsung — Android 위 Galaxy AI 기반 독자 Agent 경험 구현 중 3)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264408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온디바이스 LLM의 실용화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3538728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Galaxy S26 : 온디바이스 LLM 탑재 (Compact / Balanced / Supreme 3종) 3)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기기 외부 데이터 유출 없이 추론·협상 가능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MAF(Agent 협상) 온디바이스 처리 가능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28232" y="1728216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A2A 프로토콜 : ‘협상’이 아닌 ‘작업 위임’ 표준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28232" y="2002536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A2A(Agent2Agent) 발표(2025.4) → 150+ 조직 채택, 주요 클라우드 통합 4)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A2A — “일을 시키고 결과를 받는” Task 위임·조율 프로토콜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진정한 ‘협상’(제안·역제안·합의)은 A2A 설계 범위 밖 5)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28232" y="3127248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 간 진정한 Agent 협상 : 이제 막 시작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28232" y="3401568"/>
            <a:ext cx="5349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Pactum × Walmart 공급사 계약 재협상 — AI Agent 적용 소수 선례 6)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독자 플랫폼 기반 — 표준화된 기업 간 Agent 협상 인프라 부재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28232" y="4361688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간 Agent 자율 협상 : 완전한 미개척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28232" y="4636008"/>
            <a:ext cx="5349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 간 협상조차 이제 막 시작 — 개인 간 사례 전무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부재가 아님 — 아직 아무도 구현하지 않은 영역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5440680"/>
            <a:ext cx="11185855" cy="658368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440680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i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“기업들 사이에서도 Agent가 협상하는 것은 이제 막 시작됐다.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i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개인들 사이에서는 아직 아무것도 없다.”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2560" y="219456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 Architect 팀과제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02336"/>
            <a:ext cx="11185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필요성</a:t>
            </a:r>
            <a:pPr indent="0" marL="0">
              <a:buNone/>
            </a:pPr>
            <a:r>
              <a:rPr lang="en-US" sz="2300" dirty="0">
                <a:solidFill>
                  <a:srgbClr val="A9B2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pPr indent="0" marL="0">
              <a:buNone/>
            </a:pPr>
            <a:r>
              <a:rPr lang="en-US" sz="2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지금, 왜 당사인가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1430000" y="642823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391656" y="1225296"/>
            <a:ext cx="7315" cy="4114800"/>
          </a:xfrm>
          <a:prstGeom prst="rect">
            <a:avLst/>
          </a:prstGeom>
          <a:solidFill>
            <a:srgbClr val="D9DDE3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070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454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당사인가 — 고유 실현 조건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28232" y="12070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454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지금인가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728216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폰 + 가전 통합 생태계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2002536"/>
            <a:ext cx="5349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스마트폰 + 세탁기·TV·냉장고 — 당사만 보유한 디바이스 생태계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Google·Apple은 스마트폰 중심 — 당사 생태계 구조는 당사만의 고유 자산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008376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구축된 Agent 역량 기반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3282696"/>
            <a:ext cx="5349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Galaxy AI 기반 단일 기기 내 Agent 기능 이미 실현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과제 = 기존 기반 위 기기 간 자율 협상 레이어 추가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4288536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MX + DA + Cloud 통합 인프라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2920" y="4562856"/>
            <a:ext cx="5349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모바일·가전·클라우드 Agent 경험 — 당사 내 모두 보유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Agent 협상 레이어 연결 가능한 유일한 사업자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28232" y="1728216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성숙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28232" y="2002536"/>
            <a:ext cx="5349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On-device LLM의 Galaxy·TV 실용 단계 진입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기기 내부에서 협상 추론 처리 가능한 수준 도달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28232" y="3008376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 공백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28232" y="3282696"/>
            <a:ext cx="5349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기존은 B2B 표준화가 진행되는 단계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간 협상을 다룬 사례 없음 — 선례 부재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28232" y="4288536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First Mover 조건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28232" y="4562856"/>
            <a:ext cx="5349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빠른 출시로 사용자를 먼저 확보하는 First Mover 위치 가능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적은 비용으로 가장 큰 선점 효과를 얻는 시점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5532120"/>
            <a:ext cx="11185855" cy="658368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532120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i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“기술이 준비됐고, 시장은 비어있다.”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2560" y="219456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 Architect 팀과제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02336"/>
            <a:ext cx="11185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개요</a:t>
            </a:r>
            <a:pPr indent="0" marL="0">
              <a:buNone/>
            </a:pPr>
            <a:r>
              <a:rPr lang="en-US" sz="2300" dirty="0">
                <a:solidFill>
                  <a:srgbClr val="A9B2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pPr indent="0" marL="0">
              <a:buNone/>
            </a:pPr>
            <a:r>
              <a:rPr lang="en-US" sz="2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만드는가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1430000" y="642823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391656" y="1225296"/>
            <a:ext cx="7315" cy="4937760"/>
          </a:xfrm>
          <a:prstGeom prst="rect">
            <a:avLst/>
          </a:prstGeom>
          <a:solidFill>
            <a:srgbClr val="D9DDE3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070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454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구성 · 목표 · 기대 효과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28232" y="12070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454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MAF 4대 Communication Cases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728216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구성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066544"/>
            <a:ext cx="5349240" cy="621792"/>
          </a:xfrm>
          <a:prstGeom prst="rect">
            <a:avLst/>
          </a:prstGeom>
          <a:solidFill>
            <a:srgbClr val="F4F6F9"/>
          </a:solidFill>
          <a:ln w="6350">
            <a:solidFill>
              <a:srgbClr val="E4E8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2066544"/>
            <a:ext cx="4946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MAF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Multi-Agent Framework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협상 참여자별 Agent 동적 구성 및 상대방 Agent와의 자율 협상 수행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76148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흐름 :  협상 개시  →  참여자 초대  →  후보군 구성  →  MAF 협상  →  합의 판정  →  결과 전달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3209544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목표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547872"/>
            <a:ext cx="5349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3547872"/>
            <a:ext cx="49469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사용자의 AI Agent가 상대방 Agent와 자율 협상하여,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일상의 미세 의사결정에서 발생하는 인지 부하를 제거한다.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4489704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 효과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5349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Galaxy 단말 차별화 축 확보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5065776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–"/>
            </a:pPr>
            <a:r>
              <a:rPr lang="en-US" sz="10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H/W 평준화 이후 새로운 경쟁 변수 : “내 Agent가 상대 Agent와 협상하는 능력”</a:t>
            </a:r>
            <a:endParaRPr lang="en-US" sz="1050" dirty="0"/>
          </a:p>
          <a:p>
            <a:pPr marL="342900" indent="-342900">
              <a:lnSpc>
                <a:spcPct val="115000"/>
              </a:lnSpc>
              <a:buSzPct val="100000"/>
              <a:buChar char="–"/>
            </a:pPr>
            <a:r>
              <a:rPr lang="en-US" sz="10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선제 제품화 시 다음 단말 사업의 핵심 차별화 축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5614416"/>
            <a:ext cx="5349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폰+가전 통합 Agent Ecosystem 실현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5833872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–"/>
            </a:pPr>
            <a:r>
              <a:rPr lang="en-US" sz="10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MX + DA + Cloud 공통 Agent Layer — 당사 생태계 자산의 완전한 활용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28232" y="1755648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Negotiation · 협상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28232" y="2002536"/>
            <a:ext cx="5349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일정 조율·장소 선택 등 의사결정을 상대방 Agent와 제안·역제안·합의로 처리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28232" y="2404872"/>
            <a:ext cx="5349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AI가 저녁 식사 장소와 시간을 자율 협상하여 결정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28232" y="2734056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54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Collaboration · 협력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28232" y="2980944"/>
            <a:ext cx="5349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공동 작업 등 워크플로우를 Agent가 양측 대신 실행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28232" y="3383280"/>
            <a:ext cx="5349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AI가 보고서를 분담 작성·편집·병합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28232" y="3712464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54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Knowledge Sharing · 지식 공유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28232" y="3959352"/>
            <a:ext cx="5349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공유 가능한 정보만 선별·필터링 후 교환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28232" y="4361688"/>
            <a:ext cx="5349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타인에게 나의 선호·경험 정보를 안전하게 공유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28232" y="4690872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54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Remote Monitoring · 원격 모니터링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28232" y="4937760"/>
            <a:ext cx="5349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돌봄 대상자 Agent가 보호자 Agent에 권한 위임하여 이상 징후 감지·알림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28232" y="5340096"/>
            <a:ext cx="5349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고령자 기기 AI가 보호자 AI에게 긴급 상황 통보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28232" y="5742432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본 과제의 우선 적용 범위는 Negotiation — 확정된 QA1~QA4·DP1·DP2도 Negotiation을 대상으로 함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2560" y="219456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 Architect 팀과제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02336"/>
            <a:ext cx="11185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 사항</a:t>
            </a:r>
            <a:pPr indent="0" marL="0">
              <a:buNone/>
            </a:pPr>
            <a:r>
              <a:rPr lang="en-US" sz="2300" dirty="0">
                <a:solidFill>
                  <a:srgbClr val="A9B2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pPr indent="0" marL="0">
              <a:buNone/>
            </a:pPr>
            <a:r>
              <a:rPr lang="en-US" sz="2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 · 정제 과정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1430000" y="642823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3484778" cy="40233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98448"/>
            <a:ext cx="348477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 수집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1773936"/>
            <a:ext cx="3484778" cy="434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53458" y="1298448"/>
            <a:ext cx="3484778" cy="40233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53458" y="1298448"/>
            <a:ext cx="348477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 분석 및 정제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53458" y="1773936"/>
            <a:ext cx="3484778" cy="434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03997" y="1298448"/>
            <a:ext cx="3484778" cy="40233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03997" y="1298448"/>
            <a:ext cx="348477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Architecture Driver 도출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03997" y="1773936"/>
            <a:ext cx="3484778" cy="434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1965960"/>
            <a:ext cx="30824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Stakeholders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04088" y="2240280"/>
            <a:ext cx="308244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End User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 Leader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시스템 개발자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Sub-Agent 개발자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온디바이스 모델 개발자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선호 데이터 담당자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Security / Privacy 담당자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/ SRE 담당자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H/W 담당자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검증 담당자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04088" y="4617720"/>
            <a:ext cx="30824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VoC 수집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04088" y="4892040"/>
            <a:ext cx="30824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설명 문서 분석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현업 멘토 멘토링 4회 + 상시 문의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Idea Workshop 진행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54626" y="1965960"/>
            <a:ext cx="30824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 분석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54626" y="2240280"/>
            <a:ext cx="30824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 분류 (기능 / 비기능 / 제약)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요구사항 통합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범위 정의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54626" y="3099816"/>
            <a:ext cx="30824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 정제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54626" y="3374136"/>
            <a:ext cx="30824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요구사항 도출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제약사항 도출</a:t>
            </a:r>
            <a:endParaRPr lang="en-US" sz="1100" dirty="0"/>
          </a:p>
          <a:p>
            <a:pPr marL="342900" indent="-342900">
              <a:lnSpc>
                <a:spcPct val="118000"/>
              </a:lnSpc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시나리오 명세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05165" y="1965960"/>
            <a:ext cx="30824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요구 사항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05165" y="2286000"/>
          <a:ext cx="3082442" cy="914400"/>
        </p:xfrm>
        <a:graphic>
          <a:graphicData uri="http://schemas.openxmlformats.org/drawingml/2006/table">
            <a:tbl>
              <a:tblPr/>
              <a:tblGrid>
                <a:gridCol w="749808"/>
                <a:gridCol w="2332634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ID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기능 요구사항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FR-01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협상 자율 수행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FR-02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다자간 협상 지원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FR-03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복합 이슈 협상 지원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8405165" y="3374136"/>
            <a:ext cx="30824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속성</a:t>
            </a:r>
            <a:endParaRPr lang="en-US" sz="125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05165" y="3694176"/>
          <a:ext cx="3082442" cy="914400"/>
        </p:xfrm>
        <a:graphic>
          <a:graphicData uri="http://schemas.openxmlformats.org/drawingml/2006/table">
            <a:tbl>
              <a:tblPr/>
              <a:tblGrid>
                <a:gridCol w="749808"/>
                <a:gridCol w="2332634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ID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품질 속성 (ASR)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QA1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최적 합의안 도출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QA2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협상 메모리 자원 최소화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QA3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협상 시간 지연 최소화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QA4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개인 정보 최소 공개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" name="Text 22"/>
          <p:cNvSpPr/>
          <p:nvPr/>
        </p:nvSpPr>
        <p:spPr>
          <a:xfrm>
            <a:off x="8405165" y="5029200"/>
            <a:ext cx="30824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제약 사항</a:t>
            </a:r>
            <a:endParaRPr lang="en-US" sz="125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05165" y="5349240"/>
          <a:ext cx="3082442" cy="914400"/>
        </p:xfrm>
        <a:graphic>
          <a:graphicData uri="http://schemas.openxmlformats.org/drawingml/2006/table">
            <a:tbl>
              <a:tblPr/>
              <a:tblGrid>
                <a:gridCol w="749808"/>
                <a:gridCol w="2332634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ID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제약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C-01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런타임 메모리 사용량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C-02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동일 협상 시스템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2560" y="219456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 Architect 팀과제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02336"/>
            <a:ext cx="11185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요구사항</a:t>
            </a:r>
            <a:pPr indent="0" marL="0">
              <a:buNone/>
            </a:pPr>
            <a:r>
              <a:rPr lang="en-US" sz="2300" dirty="0">
                <a:solidFill>
                  <a:srgbClr val="A9B2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pPr indent="0" marL="0">
              <a:buNone/>
            </a:pPr>
            <a:r>
              <a:rPr lang="en-US" sz="2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제약사항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1430000" y="642823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1298448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454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요구사항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64208"/>
          <a:ext cx="11185855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286000"/>
                <a:gridCol w="7894015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ID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Title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Scenario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FR-01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협상 자율 수행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시스템은 참여자 전원의 선호·제약을 반영하여 전원이 수용 가능한 안을 자율적으로 탐색·도출해야 한다.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FR-02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다자간 협상 지원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시스템은 3인 이상의 참여자가 참여하는 다자 협상을 지원해야 한다.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FR-03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복합 이슈 협상 지원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시스템은 두 개 이상의 이슈(예: 날짜·장소·메뉴)를 하나의 협상 안에서 함께 다루어 합의를 도출할 수 있어야 한다.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3611880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454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제약사항</a:t>
            </a:r>
            <a:endParaRPr lang="en-US" sz="13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977640"/>
          <a:ext cx="11185855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286000"/>
                <a:gridCol w="7894015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ID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Title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Scenario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C-01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런타임 메모리 사용량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협상은 128MB 메모리 사용량 한도 안에서 이루어져야 한다.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C-02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동일 협상 시스템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협상에 참여하는 모든 사람은 이 시스템을 사용하여 협상을 진행한다.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02920" y="52578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C-02에 따라 이종 시스템 간 상호운용은 본 과제 범위에서 제외됨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2560" y="219456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 Architect 팀과제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02336"/>
            <a:ext cx="11185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요구사항</a:t>
            </a:r>
            <a:pPr indent="0" marL="0">
              <a:buNone/>
            </a:pPr>
            <a:r>
              <a:rPr lang="en-US" sz="2300" dirty="0">
                <a:solidFill>
                  <a:srgbClr val="A9B2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pPr indent="0" marL="0">
              <a:buNone/>
            </a:pPr>
            <a:r>
              <a:rPr lang="en-US" sz="2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Utility Tree 기반 핵심 품질 속성 도출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6428232"/>
            <a:ext cx="10728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ASR = Architecturally Significant Requirements · 128MB 산정 근거 : 안드로이드 앱 힙 256MB 중 협상 몫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430000" y="642823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243584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중요도·난이도를 분석하여 상위 4개를 ASR로 선정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72768"/>
          <a:ext cx="11185855" cy="914400"/>
        </p:xfrm>
        <a:graphic>
          <a:graphicData uri="http://schemas.openxmlformats.org/drawingml/2006/table">
            <a:tbl>
              <a:tblPr/>
              <a:tblGrid>
                <a:gridCol w="566928"/>
                <a:gridCol w="1188720"/>
                <a:gridCol w="1691640"/>
                <a:gridCol w="6595567"/>
                <a:gridCol w="114300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ID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품질속성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Title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Scenario · 목표치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중요도/난이도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QA1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Functional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Correctness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최적 합의안 도출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도달 가능한 가장 좋은 합의에 최대한 근접한 합의안을 도출해야 한다.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[ 최적 합의안 달성률 ≥ 95% ]   ※ E[ (∑Utility(합의안)) / (∑Utility(최적안)) ]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 / H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QA2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Resource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Utilization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협상 메모리 자원 최소화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협상을 수행하는 동안 메모리 사용량을 최소화해야 한다.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[ 피크 메모리 사용량 ≤ 128MB × 1% ]   ※ 후보군 도출·판단 등 실시간 사용량의 피크값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 / H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QA3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Time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Behavior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협상 시간 지연 최소화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협상 개시부터 종결까지의 시간 지연은 최소화되어야 한다.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[ P95(제안 설계 합의 도달 시간 / 기존 방안 합의 도달 시간) ≤ 20% ]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 / M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QA4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Confidentiality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개인 정보 최소 공개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협상 과정에서 참여자의 후보안·선호 정보는 합의 도출에 필요한 최소한만 다른 참여자에게 공개되어야 한다.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[ 후보안 노출률 ≤ 20% ]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 / M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9AA5B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QA5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9AA5B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Scalability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9AA5B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협상 가능 참여자 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9AA5B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협상 가능한 참여자 수를 최대화해야 한다.  [ ≥ 50명 ]   — ASR 제외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9AA5B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 / M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9AA5B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QA6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9AA5B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Scalability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9AA5B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협상 가능 이슈 개수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9AA5B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협상 가능한 이슈의 수를 최대화해야 한다.  [ ≥ 10개 ]   — ASR 제외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9AA5B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 / M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9AA5B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QA7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9AA5B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Fault Tolerance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9AA5B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협상 시 장애 오류 내성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9AA5B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무응답·이탈·서비스 장애가 발생하더라도 잔여 협상 영향을 최소화해야 한다.  [ 정상 완료율 ≥ 99% ]   — ASR 제외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9AA5B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 / M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2560" y="219456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 Architect 팀과제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02336"/>
            <a:ext cx="11185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Architectural Driver</a:t>
            </a:r>
            <a:pPr indent="0" marL="0">
              <a:buNone/>
            </a:pPr>
            <a:r>
              <a:rPr lang="en-US" sz="2300" dirty="0">
                <a:solidFill>
                  <a:srgbClr val="A9B2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pPr indent="0" marL="0">
              <a:buNone/>
            </a:pPr>
            <a:r>
              <a:rPr lang="en-US" sz="2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 종합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1430000" y="642823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480560" y="12984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65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Constraints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480560" y="1591056"/>
            <a:ext cx="3200400" cy="859536"/>
          </a:xfrm>
          <a:prstGeom prst="roundRect">
            <a:avLst>
              <a:gd name="adj" fmla="val 6383"/>
            </a:avLst>
          </a:prstGeom>
          <a:solidFill>
            <a:srgbClr val="FDF3EC"/>
          </a:solidFill>
          <a:ln w="9525">
            <a:solidFill>
              <a:srgbClr val="E8A87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617720" y="1700784"/>
            <a:ext cx="2926080" cy="274320"/>
          </a:xfrm>
          <a:prstGeom prst="roundRect">
            <a:avLst>
              <a:gd name="adj" fmla="val 20000"/>
            </a:avLst>
          </a:prstGeom>
          <a:solidFill>
            <a:srgbClr val="E8A87C"/>
          </a:solidFill>
          <a:ln w="9525">
            <a:solidFill>
              <a:srgbClr val="E8A8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17007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C1.  런타임 메모리 사용량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17720" y="2029968"/>
            <a:ext cx="2926080" cy="274320"/>
          </a:xfrm>
          <a:prstGeom prst="roundRect">
            <a:avLst>
              <a:gd name="adj" fmla="val 20000"/>
            </a:avLst>
          </a:prstGeom>
          <a:solidFill>
            <a:srgbClr val="E8A87C"/>
          </a:solidFill>
          <a:ln w="9525">
            <a:solidFill>
              <a:srgbClr val="E8A8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20299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C2.  동일 협상 시스템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24871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7A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Functional Requirements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2779776"/>
            <a:ext cx="3566160" cy="1225296"/>
          </a:xfrm>
          <a:prstGeom prst="roundRect">
            <a:avLst>
              <a:gd name="adj" fmla="val 4478"/>
            </a:avLst>
          </a:prstGeom>
          <a:solidFill>
            <a:srgbClr val="F1F7F0"/>
          </a:solidFill>
          <a:ln w="9525">
            <a:solidFill>
              <a:srgbClr val="8FBF7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" y="2889504"/>
            <a:ext cx="3255264" cy="292608"/>
          </a:xfrm>
          <a:prstGeom prst="roundRect">
            <a:avLst>
              <a:gd name="adj" fmla="val 18750"/>
            </a:avLst>
          </a:prstGeom>
          <a:solidFill>
            <a:srgbClr val="8FBF7F"/>
          </a:solidFill>
          <a:ln w="9525">
            <a:solidFill>
              <a:srgbClr val="8FBF7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2889504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FR1.  협상 자율 수행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41248" y="3236976"/>
            <a:ext cx="3255264" cy="292608"/>
          </a:xfrm>
          <a:prstGeom prst="roundRect">
            <a:avLst>
              <a:gd name="adj" fmla="val 18750"/>
            </a:avLst>
          </a:prstGeom>
          <a:solidFill>
            <a:srgbClr val="8FBF7F"/>
          </a:solidFill>
          <a:ln w="9525">
            <a:solidFill>
              <a:srgbClr val="8FBF7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3236976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FR2.  다자간 협상 지원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41248" y="3584448"/>
            <a:ext cx="3255264" cy="292608"/>
          </a:xfrm>
          <a:prstGeom prst="roundRect">
            <a:avLst>
              <a:gd name="adj" fmla="val 18750"/>
            </a:avLst>
          </a:prstGeom>
          <a:solidFill>
            <a:srgbClr val="8FBF7F"/>
          </a:solidFill>
          <a:ln w="9525">
            <a:solidFill>
              <a:srgbClr val="8FBF7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3584448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FR3.  복합 이슈 협상 지원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936992" y="23042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C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Quality Attributes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936992" y="2596896"/>
            <a:ext cx="3566160" cy="1572768"/>
          </a:xfrm>
          <a:prstGeom prst="roundRect">
            <a:avLst>
              <a:gd name="adj" fmla="val 3488"/>
            </a:avLst>
          </a:prstGeom>
          <a:solidFill>
            <a:srgbClr val="EFF4FB"/>
          </a:solidFill>
          <a:ln w="9525">
            <a:solidFill>
              <a:srgbClr val="6C93C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92440" y="2706624"/>
            <a:ext cx="3255264" cy="292608"/>
          </a:xfrm>
          <a:prstGeom prst="roundRect">
            <a:avLst>
              <a:gd name="adj" fmla="val 18750"/>
            </a:avLst>
          </a:prstGeom>
          <a:solidFill>
            <a:srgbClr val="6C93C9"/>
          </a:solidFill>
          <a:ln w="9525">
            <a:solidFill>
              <a:srgbClr val="6C93C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92440" y="2706624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QA1.  최적 합의안 도출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092440" y="3054096"/>
            <a:ext cx="3255264" cy="292608"/>
          </a:xfrm>
          <a:prstGeom prst="roundRect">
            <a:avLst>
              <a:gd name="adj" fmla="val 18750"/>
            </a:avLst>
          </a:prstGeom>
          <a:solidFill>
            <a:srgbClr val="6C93C9"/>
          </a:solidFill>
          <a:ln w="9525">
            <a:solidFill>
              <a:srgbClr val="6C93C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92440" y="3054096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QA2.  협상 메모리 자원 최소화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092440" y="3401568"/>
            <a:ext cx="3255264" cy="292608"/>
          </a:xfrm>
          <a:prstGeom prst="roundRect">
            <a:avLst>
              <a:gd name="adj" fmla="val 18750"/>
            </a:avLst>
          </a:prstGeom>
          <a:solidFill>
            <a:srgbClr val="6C93C9"/>
          </a:solidFill>
          <a:ln w="9525">
            <a:solidFill>
              <a:srgbClr val="6C93C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92440" y="3401568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QA3.  협상 시간 지연 최소화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092440" y="3749040"/>
            <a:ext cx="3255264" cy="292608"/>
          </a:xfrm>
          <a:prstGeom prst="roundRect">
            <a:avLst>
              <a:gd name="adj" fmla="val 18750"/>
            </a:avLst>
          </a:prstGeom>
          <a:solidFill>
            <a:srgbClr val="6C93C9"/>
          </a:solidFill>
          <a:ln w="9525">
            <a:solidFill>
              <a:srgbClr val="6C93C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92440" y="3749040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QA4.  개인 정보 최소 공개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90288" y="2761488"/>
            <a:ext cx="3017520" cy="1298448"/>
          </a:xfrm>
          <a:prstGeom prst="ellipse">
            <a:avLst/>
          </a:prstGeom>
          <a:solidFill>
            <a:srgbClr val="6E7681"/>
          </a:solidFill>
          <a:ln w="12700">
            <a:solidFill>
              <a:srgbClr val="6E76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90288" y="2761488"/>
            <a:ext cx="30175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Architecture</a:t>
            </a:r>
            <a:endParaRPr lang="en-US" sz="1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Drivers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6099048" y="2450592"/>
            <a:ext cx="0" cy="310896"/>
          </a:xfrm>
          <a:prstGeom prst="line">
            <a:avLst/>
          </a:prstGeom>
          <a:noFill/>
          <a:ln w="31750">
            <a:solidFill>
              <a:srgbClr val="E8A87C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251960" y="3401568"/>
            <a:ext cx="338328" cy="0"/>
          </a:xfrm>
          <a:prstGeom prst="line">
            <a:avLst/>
          </a:prstGeom>
          <a:noFill/>
          <a:ln w="31750">
            <a:solidFill>
              <a:srgbClr val="8FBF7F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 flipH="1">
            <a:off x="7607808" y="3401568"/>
            <a:ext cx="329184" cy="0"/>
          </a:xfrm>
          <a:prstGeom prst="line">
            <a:avLst/>
          </a:prstGeom>
          <a:noFill/>
          <a:ln w="31750">
            <a:solidFill>
              <a:srgbClr val="6C93C9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099048" y="4059936"/>
            <a:ext cx="0" cy="384048"/>
          </a:xfrm>
          <a:prstGeom prst="line">
            <a:avLst/>
          </a:prstGeom>
          <a:noFill/>
          <a:ln w="31750">
            <a:solidFill>
              <a:srgbClr val="6E7681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2011680" y="4553712"/>
            <a:ext cx="8165592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11680" y="4553712"/>
            <a:ext cx="81655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정확하고 효율적인 </a:t>
            </a:r>
            <a:pPr algn="ctr"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On-device Agent 간 자율 협상 기술 확보</a:t>
            </a:r>
            <a:endParaRPr lang="en-US" sz="1900" dirty="0"/>
          </a:p>
        </p:txBody>
      </p:sp>
      <p:sp>
        <p:nvSpPr>
          <p:cNvPr id="37" name="Text 35"/>
          <p:cNvSpPr/>
          <p:nvPr/>
        </p:nvSpPr>
        <p:spPr>
          <a:xfrm>
            <a:off x="2011680" y="5431536"/>
            <a:ext cx="8165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정확하게는 QA1 · 효율적으로는 QA2와 QA3 · 그 과정에서 QA4를 지키는 것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2560" y="219456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 Architect 팀과제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02336"/>
            <a:ext cx="11185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Context Diagram</a:t>
            </a:r>
            <a:pPr indent="0" marL="0">
              <a:buNone/>
            </a:pPr>
            <a:r>
              <a:rPr lang="en-US" sz="2300" dirty="0">
                <a:solidFill>
                  <a:srgbClr val="A9B2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pPr indent="0" marL="0">
              <a:buNone/>
            </a:pPr>
            <a:r>
              <a:rPr lang="en-US" sz="2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경계와 외부 인터페이스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1430000" y="642823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977640" y="2761488"/>
            <a:ext cx="3794760" cy="1371600"/>
          </a:xfrm>
          <a:prstGeom prst="roundRect">
            <a:avLst>
              <a:gd name="adj" fmla="val 4000"/>
            </a:avLst>
          </a:prstGeom>
          <a:solidFill>
            <a:srgbClr val="2E3B4E"/>
          </a:solidFill>
          <a:ln w="9525">
            <a:solidFill>
              <a:srgbClr val="2E3B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77640" y="2761488"/>
            <a:ext cx="3794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Multi Agent Framework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C9D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협상 Context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977640" y="1572768"/>
            <a:ext cx="1783080" cy="566928"/>
          </a:xfrm>
          <a:prstGeom prst="roundRect">
            <a:avLst>
              <a:gd name="adj" fmla="val 9677"/>
            </a:avLst>
          </a:prstGeom>
          <a:solidFill>
            <a:srgbClr val="E6E8EB"/>
          </a:solidFill>
          <a:ln w="9525">
            <a:solidFill>
              <a:srgbClr val="C3C8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77640" y="157276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IDS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89320" y="1572768"/>
            <a:ext cx="1783080" cy="566928"/>
          </a:xfrm>
          <a:prstGeom prst="roundRect">
            <a:avLst>
              <a:gd name="adj" fmla="val 9677"/>
            </a:avLst>
          </a:prstGeom>
          <a:solidFill>
            <a:srgbClr val="E6E8EB"/>
          </a:solidFill>
          <a:ln w="9525">
            <a:solidFill>
              <a:srgbClr val="C3C8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89320" y="157276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OnDevice LLM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864608" y="2139696"/>
            <a:ext cx="0" cy="621792"/>
          </a:xfrm>
          <a:prstGeom prst="line">
            <a:avLst/>
          </a:prstGeom>
          <a:noFill/>
          <a:ln w="12700">
            <a:solidFill>
              <a:srgbClr val="6B7683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876288" y="2139696"/>
            <a:ext cx="0" cy="621792"/>
          </a:xfrm>
          <a:prstGeom prst="line">
            <a:avLst/>
          </a:prstGeom>
          <a:noFill/>
          <a:ln w="12700">
            <a:solidFill>
              <a:srgbClr val="6B7683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60120" y="1572768"/>
            <a:ext cx="17373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6B768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157276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697480" y="1755648"/>
            <a:ext cx="1280160" cy="0"/>
          </a:xfrm>
          <a:prstGeom prst="line">
            <a:avLst/>
          </a:prstGeom>
          <a:noFill/>
          <a:ln w="12700">
            <a:solidFill>
              <a:srgbClr val="6B7683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 flipH="1">
            <a:off x="2697480" y="1975104"/>
            <a:ext cx="1280160" cy="0"/>
          </a:xfrm>
          <a:prstGeom prst="line">
            <a:avLst/>
          </a:prstGeom>
          <a:noFill/>
          <a:ln w="12700">
            <a:solidFill>
              <a:srgbClr val="6B7683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2606040" y="15179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명시적 의도 / 사용자 개입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606040" y="19933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알림 / 승인 요청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60120" y="3127248"/>
            <a:ext cx="1965960" cy="658368"/>
          </a:xfrm>
          <a:prstGeom prst="roundRect">
            <a:avLst>
              <a:gd name="adj" fmla="val 8333"/>
            </a:avLst>
          </a:prstGeom>
          <a:solidFill>
            <a:srgbClr val="EDEFF2"/>
          </a:solidFill>
          <a:ln w="9525">
            <a:solidFill>
              <a:srgbClr val="9AA5B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3127248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선호 정보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(PDE 등)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926080" y="3456432"/>
            <a:ext cx="1051560" cy="0"/>
          </a:xfrm>
          <a:prstGeom prst="line">
            <a:avLst/>
          </a:prstGeom>
          <a:noFill/>
          <a:ln w="12700">
            <a:solidFill>
              <a:srgbClr val="6B7683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343400" y="4956048"/>
            <a:ext cx="3063240" cy="621792"/>
          </a:xfrm>
          <a:prstGeom prst="roundRect">
            <a:avLst>
              <a:gd name="adj" fmla="val 8824"/>
            </a:avLst>
          </a:prstGeom>
          <a:solidFill>
            <a:srgbClr val="E6E8EB"/>
          </a:solidFill>
          <a:ln w="9525">
            <a:solidFill>
              <a:srgbClr val="C3C8C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43400" y="4956048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Sub-Agents / Skills / Tools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 flipV="1">
            <a:off x="5074920" y="4133088"/>
            <a:ext cx="0" cy="822960"/>
          </a:xfrm>
          <a:prstGeom prst="line">
            <a:avLst/>
          </a:prstGeom>
          <a:noFill/>
          <a:ln w="12700">
            <a:solidFill>
              <a:srgbClr val="6B7683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629400" y="4133088"/>
            <a:ext cx="0" cy="822960"/>
          </a:xfrm>
          <a:prstGeom prst="line">
            <a:avLst/>
          </a:prstGeom>
          <a:noFill/>
          <a:ln w="12700">
            <a:solidFill>
              <a:srgbClr val="6B7683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4160520" y="440740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가용 후보 조회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537960" y="440740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합의안 후속 실행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8851392" y="2615184"/>
            <a:ext cx="2331720" cy="566928"/>
          </a:xfrm>
          <a:prstGeom prst="roundRect">
            <a:avLst>
              <a:gd name="adj" fmla="val 9677"/>
            </a:avLst>
          </a:prstGeom>
          <a:solidFill>
            <a:srgbClr val="F2EEF9"/>
          </a:solidFill>
          <a:ln w="9525">
            <a:solidFill>
              <a:srgbClr val="B9A7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51392" y="2615184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Server LLM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851392" y="3584448"/>
            <a:ext cx="2331720" cy="566928"/>
          </a:xfrm>
          <a:prstGeom prst="roundRect">
            <a:avLst>
              <a:gd name="adj" fmla="val 9677"/>
            </a:avLst>
          </a:prstGeom>
          <a:solidFill>
            <a:srgbClr val="F2EEF9"/>
          </a:solidFill>
          <a:ln w="9525">
            <a:solidFill>
              <a:srgbClr val="B9A7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51392" y="358444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메시지 서버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851392" y="4956048"/>
            <a:ext cx="2331720" cy="621792"/>
          </a:xfrm>
          <a:prstGeom prst="roundRect">
            <a:avLst>
              <a:gd name="adj" fmla="val 8824"/>
            </a:avLst>
          </a:prstGeom>
          <a:solidFill>
            <a:srgbClr val="2E3B4E"/>
          </a:solidFill>
          <a:ln w="9525">
            <a:solidFill>
              <a:srgbClr val="2E3B4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51392" y="4956048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Peer Galaxy Devices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772400" y="2898648"/>
            <a:ext cx="1078992" cy="0"/>
          </a:xfrm>
          <a:prstGeom prst="line">
            <a:avLst/>
          </a:prstGeom>
          <a:noFill/>
          <a:ln w="12700">
            <a:solidFill>
              <a:srgbClr val="8E7CB8"/>
            </a:solidFill>
            <a:prstDash val="dash"/>
            <a:headEnd type="triangl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7772400" y="3867912"/>
            <a:ext cx="1078992" cy="0"/>
          </a:xfrm>
          <a:prstGeom prst="line">
            <a:avLst/>
          </a:prstGeom>
          <a:noFill/>
          <a:ln w="12700">
            <a:solidFill>
              <a:srgbClr val="8E7CB8"/>
            </a:solidFill>
            <a:prstDash val="dash"/>
            <a:headEnd type="triangl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012680" y="4151376"/>
            <a:ext cx="0" cy="804672"/>
          </a:xfrm>
          <a:prstGeom prst="line">
            <a:avLst/>
          </a:prstGeom>
          <a:noFill/>
          <a:ln w="12700">
            <a:solidFill>
              <a:srgbClr val="8E7CB8"/>
            </a:solidFill>
            <a:prstDash val="dash"/>
            <a:headEnd type="triangle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7772400" y="362102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협상 메시지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058400" y="44074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협상 메시지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48640" y="4498848"/>
            <a:ext cx="23774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" y="457200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54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Legend / 범례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13232" y="4882896"/>
            <a:ext cx="256032" cy="137160"/>
          </a:xfrm>
          <a:prstGeom prst="rect">
            <a:avLst/>
          </a:prstGeom>
          <a:solidFill>
            <a:srgbClr val="2E3B4E"/>
          </a:solidFill>
          <a:ln w="9525">
            <a:solidFill>
              <a:srgbClr val="2E3B4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51560" y="484632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System Boundary (설계 범위)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13232" y="5120640"/>
            <a:ext cx="256032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6B768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51560" y="508406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Actor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13232" y="5358384"/>
            <a:ext cx="256032" cy="137160"/>
          </a:xfrm>
          <a:prstGeom prst="rect">
            <a:avLst/>
          </a:prstGeom>
          <a:solidFill>
            <a:srgbClr val="E6E8EB"/>
          </a:solidFill>
          <a:ln w="9525">
            <a:solidFill>
              <a:srgbClr val="C3C8C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51560" y="532180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Internal Module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13232" y="5596128"/>
            <a:ext cx="256032" cy="137160"/>
          </a:xfrm>
          <a:prstGeom prst="rect">
            <a:avLst/>
          </a:prstGeom>
          <a:solidFill>
            <a:srgbClr val="F2EEF9"/>
          </a:solidFill>
          <a:ln w="9525">
            <a:solidFill>
              <a:srgbClr val="B9A7D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51560" y="55595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External System / Service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108960" y="5943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IDS·OnDevice LLM은 Internal Module로 표기 — 설계 범위(진한 박스)는 MAF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2560" y="219456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 Architect 팀과제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02336"/>
            <a:ext cx="11185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Overview</a:t>
            </a:r>
            <a:pPr indent="0" marL="0">
              <a:buNone/>
            </a:pPr>
            <a:r>
              <a:rPr lang="en-US" sz="2300" dirty="0">
                <a:solidFill>
                  <a:srgbClr val="A9B2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pPr indent="0" marL="0">
              <a:buNone/>
            </a:pPr>
            <a:r>
              <a:rPr lang="en-US" sz="2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개의 설계 문제와 모듈 위치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1430000" y="642823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2514600" cy="32918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9844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협상 시 메모리 (QA2)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0" y="129844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메모리 효율화를 위한 복합 이슈 협상의 후보군 구성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144000" y="1325880"/>
            <a:ext cx="731520" cy="274320"/>
          </a:xfrm>
          <a:prstGeom prst="rect">
            <a:avLst/>
          </a:prstGeom>
          <a:solidFill>
            <a:srgbClr val="FFFFFF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0" y="1325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DP1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700784"/>
            <a:ext cx="2514600" cy="32918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700784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협상 결과 정확성 (QA1)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00400" y="1700784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정확성을 위한 다자간 협상 설계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44000" y="1728216"/>
            <a:ext cx="731520" cy="27432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3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0" y="172821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D63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DP2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0" y="2249424"/>
            <a:ext cx="7772400" cy="3840480"/>
          </a:xfrm>
          <a:prstGeom prst="rect">
            <a:avLst/>
          </a:prstGeom>
          <a:solidFill>
            <a:srgbClr val="FAFBFC"/>
          </a:solidFill>
          <a:ln w="9525">
            <a:solidFill>
              <a:srgbClr val="D6DB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228600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Mobile Phone (Android)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572768" y="2560320"/>
            <a:ext cx="7370064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72768" y="2596896"/>
            <a:ext cx="7370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454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Multi Agent Framework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755648" y="2871216"/>
            <a:ext cx="7004304" cy="310896"/>
          </a:xfrm>
          <a:prstGeom prst="rect">
            <a:avLst/>
          </a:prstGeom>
          <a:solidFill>
            <a:srgbClr val="F4F6F9"/>
          </a:solidFill>
          <a:ln w="9525">
            <a:solidFill>
              <a:srgbClr val="D6DB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55648" y="2871216"/>
            <a:ext cx="7004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Orchestrator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755648" y="3291840"/>
            <a:ext cx="7004304" cy="1572768"/>
          </a:xfrm>
          <a:prstGeom prst="rect">
            <a:avLst/>
          </a:prstGeom>
          <a:solidFill>
            <a:srgbClr val="FAFBFC"/>
          </a:solidFill>
          <a:ln w="9525">
            <a:solidFill>
              <a:srgbClr val="D6DB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55648" y="3319272"/>
            <a:ext cx="7004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Personal Proxy Agent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755648" y="3465576"/>
            <a:ext cx="7004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Negotiation Engine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956816" y="3749040"/>
            <a:ext cx="157276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3C8C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56816" y="374904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Issue Dispatcher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956816" y="4224528"/>
            <a:ext cx="157276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3C8C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56816" y="422452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Candidates Builder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712464" y="3749040"/>
            <a:ext cx="157276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3C8C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12464" y="374904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Lifecycle Manager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712464" y="4224528"/>
            <a:ext cx="157276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3C8C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12464" y="422452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Session Manager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68112" y="3749040"/>
            <a:ext cx="3108960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3C8C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68112" y="3749040"/>
            <a:ext cx="3108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NegMAS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28800" y="3657600"/>
            <a:ext cx="1828800" cy="1060704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C0392B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3584448" y="3657600"/>
            <a:ext cx="5120640" cy="1060704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2D63A8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1828800" y="3401568"/>
            <a:ext cx="658368" cy="237744"/>
          </a:xfrm>
          <a:prstGeom prst="rect">
            <a:avLst/>
          </a:prstGeom>
          <a:solidFill>
            <a:srgbClr val="FFFFFF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28800" y="340156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DP1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046720" y="3401568"/>
            <a:ext cx="658368" cy="237744"/>
          </a:xfrm>
          <a:prstGeom prst="rect">
            <a:avLst/>
          </a:prstGeom>
          <a:solidFill>
            <a:srgbClr val="FFFFFF"/>
          </a:solidFill>
          <a:ln w="15875">
            <a:solidFill>
              <a:srgbClr val="2D63A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46720" y="340156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2D63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DP2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755648" y="4956048"/>
            <a:ext cx="1627632" cy="329184"/>
          </a:xfrm>
          <a:prstGeom prst="rect">
            <a:avLst/>
          </a:prstGeom>
          <a:solidFill>
            <a:srgbClr val="F4F6F9"/>
          </a:solidFill>
          <a:ln w="9525">
            <a:solidFill>
              <a:srgbClr val="D6DB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755648" y="4956048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Sub Agent Dispatcher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529584" y="4956048"/>
            <a:ext cx="1627632" cy="329184"/>
          </a:xfrm>
          <a:prstGeom prst="rect">
            <a:avLst/>
          </a:prstGeom>
          <a:solidFill>
            <a:srgbClr val="F4F6F9"/>
          </a:solidFill>
          <a:ln w="9525">
            <a:solidFill>
              <a:srgbClr val="D6DB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29584" y="4956048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Peer Discovery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303520" y="4956048"/>
            <a:ext cx="1627632" cy="329184"/>
          </a:xfrm>
          <a:prstGeom prst="rect">
            <a:avLst/>
          </a:prstGeom>
          <a:solidFill>
            <a:srgbClr val="F4F6F9"/>
          </a:solidFill>
          <a:ln w="9525">
            <a:solidFill>
              <a:srgbClr val="D6DB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03520" y="4956048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Connection Manager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077456" y="4956048"/>
            <a:ext cx="1627632" cy="329184"/>
          </a:xfrm>
          <a:prstGeom prst="rect">
            <a:avLst/>
          </a:prstGeom>
          <a:solidFill>
            <a:srgbClr val="F4F6F9"/>
          </a:solidFill>
          <a:ln w="9525">
            <a:solidFill>
              <a:srgbClr val="D6DB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77456" y="4956048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Inference Engine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572768" y="5468112"/>
            <a:ext cx="3108960" cy="365760"/>
          </a:xfrm>
          <a:prstGeom prst="roundRect">
            <a:avLst>
              <a:gd name="adj" fmla="val 15000"/>
            </a:avLst>
          </a:prstGeom>
          <a:solidFill>
            <a:srgbClr val="EAF1F8"/>
          </a:solidFill>
          <a:ln w="9525">
            <a:solidFill>
              <a:srgbClr val="B7CB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572768" y="54681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Preference Storage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846320" y="5468112"/>
            <a:ext cx="2011680" cy="365760"/>
          </a:xfrm>
          <a:prstGeom prst="rect">
            <a:avLst/>
          </a:prstGeom>
          <a:solidFill>
            <a:srgbClr val="F4F6F9"/>
          </a:solidFill>
          <a:ln w="9525">
            <a:solidFill>
              <a:srgbClr val="D6DB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46320" y="54681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Ondevice LLM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7022592" y="5468112"/>
            <a:ext cx="1920240" cy="365760"/>
          </a:xfrm>
          <a:prstGeom prst="rect">
            <a:avLst/>
          </a:prstGeom>
          <a:solidFill>
            <a:srgbClr val="F4F6F9"/>
          </a:solidFill>
          <a:ln w="9525">
            <a:solidFill>
              <a:srgbClr val="D6DB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22592" y="54681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Sub Agent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464040" y="2377440"/>
            <a:ext cx="2194560" cy="841248"/>
          </a:xfrm>
          <a:prstGeom prst="rect">
            <a:avLst/>
          </a:prstGeom>
          <a:solidFill>
            <a:srgbClr val="FAFBFC"/>
          </a:solidFill>
          <a:ln w="9525">
            <a:solidFill>
              <a:srgbClr val="D6DB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464040" y="241401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Server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9619488" y="2670048"/>
            <a:ext cx="1883664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3C8C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619488" y="2670048"/>
            <a:ext cx="1883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API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9464040" y="3566160"/>
            <a:ext cx="2194560" cy="841248"/>
          </a:xfrm>
          <a:prstGeom prst="rect">
            <a:avLst/>
          </a:prstGeom>
          <a:solidFill>
            <a:srgbClr val="FAFBFC"/>
          </a:solidFill>
          <a:ln w="9525">
            <a:solidFill>
              <a:srgbClr val="D6DB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464040" y="360273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Message Server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9619488" y="3858768"/>
            <a:ext cx="1883664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3C8C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619488" y="3858768"/>
            <a:ext cx="1883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Message Broker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9464040" y="4754880"/>
            <a:ext cx="2194560" cy="841248"/>
          </a:xfrm>
          <a:prstGeom prst="rect">
            <a:avLst/>
          </a:prstGeom>
          <a:solidFill>
            <a:srgbClr val="FAFBFC"/>
          </a:solidFill>
          <a:ln w="9525">
            <a:solidFill>
              <a:srgbClr val="D6DBE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464040" y="479145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Peer - Mobile Phone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9619488" y="5047488"/>
            <a:ext cx="1883664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3C8C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619488" y="5047488"/>
            <a:ext cx="1883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Personal Proxy Agent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2560" y="219456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 Architect 팀과제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02336"/>
            <a:ext cx="11185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DP 사전 배경</a:t>
            </a:r>
            <a:pPr indent="0" marL="0">
              <a:buNone/>
            </a:pPr>
            <a:r>
              <a:rPr lang="en-US" sz="2300" dirty="0">
                <a:solidFill>
                  <a:srgbClr val="A9B2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pPr indent="0" marL="0">
              <a:buNone/>
            </a:pPr>
            <a:r>
              <a:rPr lang="en-US" sz="2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NegMAS를 이용한 협상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1430000" y="642823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1225296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4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NegMAS : 에이전트 간 자동 협상(제안 · 거절 · 양보 · 합의)을 만들기 위한 오픈소스 협상 프레임워크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1517904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 : 나와 친구의 ‘저녁 약속’을 잡기 위한 협상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847088"/>
            <a:ext cx="534924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9019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Agent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251960" y="190195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Threshold 0.5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67512" y="221284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금요일 7시 · 파스타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54880" y="22128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0.9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67512" y="254203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토요일 7시 · 파스타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54880" y="25420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0.75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67512" y="2834640"/>
            <a:ext cx="5020056" cy="0"/>
          </a:xfrm>
          <a:prstGeom prst="line">
            <a:avLst/>
          </a:prstGeom>
          <a:noFill/>
          <a:ln w="9525">
            <a:solidFill>
              <a:srgbClr val="C0392B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667512" y="287121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토요일 6시 · 김치찌개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54880" y="28712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0.4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28232" y="1847088"/>
            <a:ext cx="534924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92824" y="19019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친구의 Agent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177272" y="190195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Threshold 0.6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92824" y="221284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토요일 6시 · 김치찌개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680192" y="22128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0.9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92824" y="254203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토요일 7시 · 파스타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680192" y="25420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0.72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592824" y="2834640"/>
            <a:ext cx="5020056" cy="0"/>
          </a:xfrm>
          <a:prstGeom prst="line">
            <a:avLst/>
          </a:prstGeom>
          <a:noFill/>
          <a:ln w="9525">
            <a:solidFill>
              <a:srgbClr val="C0392B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592824" y="287121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금요일 7시 · 파스타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0680192" y="28712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2920" y="3474720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이 점수표는 서로 볼 수 없음 — 상대가 아는 것은 제안과 수락 · 거절뿐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" y="3822192"/>
            <a:ext cx="11185855" cy="402336"/>
          </a:xfrm>
          <a:prstGeom prst="rect">
            <a:avLst/>
          </a:prstGeom>
          <a:solidFill>
            <a:srgbClr val="FAFBFC"/>
          </a:solidFill>
          <a:ln w="9525">
            <a:solidFill>
              <a:srgbClr val="E4E8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" y="3822192"/>
            <a:ext cx="310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54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14984" y="382219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“금요일 7시에 파스타 어때?”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288536" y="382219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점수 0.9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63640" y="3822192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 0.3 &lt; Threshold 0.6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0195560" y="3886200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B9535A"/>
          </a:solidFill>
          <a:ln w="9525">
            <a:solidFill>
              <a:srgbClr val="B9535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195560" y="3886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거절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" y="4297680"/>
            <a:ext cx="11185855" cy="402336"/>
          </a:xfrm>
          <a:prstGeom prst="rect">
            <a:avLst/>
          </a:prstGeom>
          <a:solidFill>
            <a:srgbClr val="FAFBFC"/>
          </a:solidFill>
          <a:ln w="9525">
            <a:solidFill>
              <a:srgbClr val="E4E8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9224" y="4297680"/>
            <a:ext cx="310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54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14984" y="429768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“그럼 토요일 6시에 김치찌개는?”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288536" y="429768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 점수 0.9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63640" y="429768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0.4 &lt; Threshold 0.5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0195560" y="4361688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B9535A"/>
          </a:solidFill>
          <a:ln w="9525">
            <a:solidFill>
              <a:srgbClr val="B9535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195560" y="43616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거절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02920" y="4773168"/>
            <a:ext cx="11185855" cy="402336"/>
          </a:xfrm>
          <a:prstGeom prst="rect">
            <a:avLst/>
          </a:prstGeom>
          <a:solidFill>
            <a:srgbClr val="F2F7F2"/>
          </a:solidFill>
          <a:ln w="9525">
            <a:solidFill>
              <a:srgbClr val="9EC49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9224" y="4773168"/>
            <a:ext cx="310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7A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014984" y="477316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“토요일 7시에 파스타는?”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288536" y="477316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점수 0.75 — 양보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263640" y="477316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 0.72 ≥ Threshold 0.6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10195560" y="4837176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3E7A3E"/>
          </a:solidFill>
          <a:ln w="9525">
            <a:solidFill>
              <a:srgbClr val="3E7A3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195560" y="48371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수락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02920" y="5285232"/>
            <a:ext cx="11185855" cy="365760"/>
          </a:xfrm>
          <a:prstGeom prst="rect">
            <a:avLst/>
          </a:prstGeom>
          <a:solidFill>
            <a:srgbClr val="F2F7F2"/>
          </a:solidFill>
          <a:ln w="9525">
            <a:solidFill>
              <a:srgbClr val="9EC49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" y="5285232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E7A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합의 성립 — “토요일 7시 파스타”   ·   두 Agent 모두 Threshold 이상 → 양쪽 캘린더에 등록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02920" y="5724144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맞는 안이 없으면 Threshold를 낮춰 재협상 → 재협상도 실패 시 결렬도 정상적인 결론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02920" y="5998464"/>
            <a:ext cx="11185855" cy="365760"/>
          </a:xfrm>
          <a:prstGeom prst="rect">
            <a:avLst/>
          </a:prstGeom>
          <a:solidFill>
            <a:srgbClr val="F4F6F9"/>
          </a:solidFill>
          <a:ln w="9525">
            <a:solidFill>
              <a:srgbClr val="D8DEE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2920" y="5998464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지금은 참여자 2명 · 이슈 1개.   이슈가 늘면 메모리 문제(DP1)가, 참여자가 늘면 정확성 문제(DP2)가 드러남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On-device Agentic Platform — 과제 배경 (원본 정정본)</dc:title>
  <dc:subject>PptxGenJS Presentation</dc:subject>
  <dc:creator>10팀</dc:creator>
  <cp:lastModifiedBy>10팀</cp:lastModifiedBy>
  <cp:revision>1</cp:revision>
  <dcterms:created xsi:type="dcterms:W3CDTF">2026-08-23T09:52:30Z</dcterms:created>
  <dcterms:modified xsi:type="dcterms:W3CDTF">2026-08-23T09:52:30Z</dcterms:modified>
</cp:coreProperties>
</file>